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0" r:id="rId3"/>
    <p:sldId id="257" r:id="rId4"/>
    <p:sldId id="258" r:id="rId5"/>
    <p:sldId id="259" r:id="rId6"/>
    <p:sldId id="260" r:id="rId7"/>
    <p:sldId id="261" r:id="rId8"/>
    <p:sldId id="262" r:id="rId9"/>
    <p:sldId id="271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1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C4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937760"/>
            <a:ext cx="12191695" cy="5486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FB4DB"/>
                </a:solidFill>
                <a:latin typeface="Calibri"/>
              </a:rPr>
              <a:t>АНАЛИТИЧЕСКИЙ ПРОЕКТ • SAG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Calibri"/>
              </a:rPr>
              <a:t>Производственная аналитика</a:t>
            </a:r>
          </a:p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Calibri"/>
              </a:rPr>
              <a:t>предприятия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B9CFE6"/>
                </a:solidFill>
                <a:latin typeface="Calibri"/>
              </a:rPr>
              <a:t>Анализ производства, сырья, загрузки станков, складов и продаж</a:t>
            </a:r>
          </a:p>
          <a:p>
            <a:pPr algn="l">
              <a:lnSpc>
                <a:spcPct val="100000"/>
              </a:lnSpc>
            </a:pPr>
            <a:r>
              <a:rPr sz="1800" b="0">
                <a:solidFill>
                  <a:srgbClr val="B9CFE6"/>
                </a:solidFill>
                <a:latin typeface="Calibri"/>
              </a:rPr>
              <a:t>ковровой фабрики за 2024–2025 годы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FE0F0"/>
                </a:solidFill>
                <a:latin typeface="Calibri"/>
              </a:rPr>
              <a:t>Excel  →  Python  →  PostgreSQL  →  Power BI  →  Python-визуализация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73152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dirty="0" err="1">
                <a:solidFill>
                  <a:srgbClr val="9FBCDC"/>
                </a:solidFill>
                <a:latin typeface="Calibri"/>
              </a:rPr>
              <a:t>Выполнил</a:t>
            </a:r>
            <a:r>
              <a:rPr sz="1400" b="0" dirty="0">
                <a:solidFill>
                  <a:srgbClr val="9FBCDC"/>
                </a:solidFill>
                <a:latin typeface="Calibri"/>
              </a:rPr>
              <a:t>: </a:t>
            </a:r>
            <a:r>
              <a:rPr lang="ru-RU" sz="1400" b="0" dirty="0">
                <a:solidFill>
                  <a:srgbClr val="9FBCDC"/>
                </a:solidFill>
                <a:latin typeface="Calibri"/>
              </a:rPr>
              <a:t>Э. К.</a:t>
            </a:r>
            <a:endParaRPr sz="1400" b="0" dirty="0">
              <a:solidFill>
                <a:srgbClr val="9FBCDC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01200" y="585216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3400" b="1" dirty="0">
                <a:solidFill>
                  <a:schemeClr val="tx2">
                    <a:lumMod val="50000"/>
                  </a:schemeClr>
                </a:solidFill>
                <a:latin typeface="Calibri"/>
              </a:rPr>
              <a:t>SAG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991B1-B8CC-61F2-29C8-17F0BF786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6C8E35-563D-1B13-886C-93EAC1BD163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D39C4D-180A-1C39-AC98-65ACA8C4B1A8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4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611AC0-AE9C-8BB9-7E8C-8FD742DAD320}"/>
              </a:ext>
            </a:extLst>
          </p:cNvPr>
          <p:cNvSpPr txBox="1"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0C447C"/>
                </a:solidFill>
                <a:latin typeface="Calibri"/>
              </a:rPr>
              <a:t>О проекте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EE234A-D42E-7A0A-F29D-2CB1EBB75714}"/>
              </a:ext>
            </a:extLst>
          </p:cNvPr>
          <p:cNvSpPr txBox="1"/>
          <p:nvPr/>
        </p:nvSpPr>
        <p:spPr>
          <a:xfrm>
            <a:off x="640080" y="137160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1A1A1A"/>
                </a:solidFill>
                <a:latin typeface="Calibri"/>
              </a:rPr>
              <a:t>Цель — построить единую систему бизнес-аналитики производственного предприятия: от сырых Excel-выгрузок из SAP до интерактивных дашбордов и аналитических отчётов. У предприятия два завода — ANTP (Самарканд) и XIVA (Хива).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1FADD4-DF97-0E8F-9632-AD0BCE0607EB}"/>
              </a:ext>
            </a:extLst>
          </p:cNvPr>
          <p:cNvSpPr/>
          <p:nvPr/>
        </p:nvSpPr>
        <p:spPr>
          <a:xfrm>
            <a:off x="640080" y="2834640"/>
            <a:ext cx="2103120" cy="13716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1D202A-1BF8-6F78-007A-3669A58F2839}"/>
              </a:ext>
            </a:extLst>
          </p:cNvPr>
          <p:cNvSpPr/>
          <p:nvPr/>
        </p:nvSpPr>
        <p:spPr>
          <a:xfrm>
            <a:off x="640080" y="2834640"/>
            <a:ext cx="2103120" cy="73152"/>
          </a:xfrm>
          <a:prstGeom prst="rect">
            <a:avLst/>
          </a:prstGeom>
          <a:solidFill>
            <a:srgbClr val="0C4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B41832-92A0-E508-EDB8-CB4B0CFE1268}"/>
              </a:ext>
            </a:extLst>
          </p:cNvPr>
          <p:cNvSpPr txBox="1"/>
          <p:nvPr/>
        </p:nvSpPr>
        <p:spPr>
          <a:xfrm>
            <a:off x="640080" y="306324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C447C"/>
                </a:solidFill>
                <a:latin typeface="Calibri"/>
              </a:rPr>
              <a:t>Excel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94DDC8-7B3E-3A37-966C-8B5172B046CA}"/>
              </a:ext>
            </a:extLst>
          </p:cNvPr>
          <p:cNvSpPr txBox="1"/>
          <p:nvPr/>
        </p:nvSpPr>
        <p:spPr>
          <a:xfrm>
            <a:off x="731520" y="356616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B6A64"/>
                </a:solidFill>
                <a:latin typeface="Calibri"/>
              </a:rPr>
              <a:t>Сырые выгрузки SAP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31297-629B-8C3B-F3DD-E2DD32C4FC43}"/>
              </a:ext>
            </a:extLst>
          </p:cNvPr>
          <p:cNvSpPr/>
          <p:nvPr/>
        </p:nvSpPr>
        <p:spPr>
          <a:xfrm>
            <a:off x="2880360" y="2834640"/>
            <a:ext cx="2103120" cy="13716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750A95-1246-1652-3EB9-66E6841FF930}"/>
              </a:ext>
            </a:extLst>
          </p:cNvPr>
          <p:cNvSpPr/>
          <p:nvPr/>
        </p:nvSpPr>
        <p:spPr>
          <a:xfrm>
            <a:off x="2880360" y="2834640"/>
            <a:ext cx="2103120" cy="73152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69FDE9-2FA4-6210-3ABC-9CD5C3445461}"/>
              </a:ext>
            </a:extLst>
          </p:cNvPr>
          <p:cNvSpPr txBox="1"/>
          <p:nvPr/>
        </p:nvSpPr>
        <p:spPr>
          <a:xfrm>
            <a:off x="2880360" y="306324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85A30"/>
                </a:solidFill>
                <a:latin typeface="Calibri"/>
              </a:rPr>
              <a:t>Python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9A3BFF-BDD8-D57B-073B-877D081B5978}"/>
              </a:ext>
            </a:extLst>
          </p:cNvPr>
          <p:cNvSpPr txBox="1"/>
          <p:nvPr/>
        </p:nvSpPr>
        <p:spPr>
          <a:xfrm>
            <a:off x="2971800" y="356616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B6A64"/>
                </a:solidFill>
                <a:latin typeface="Calibri"/>
              </a:rPr>
              <a:t>Очистка данных (pandas)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CAA19D-CC5C-ABF1-1523-E34620B81E3B}"/>
              </a:ext>
            </a:extLst>
          </p:cNvPr>
          <p:cNvSpPr/>
          <p:nvPr/>
        </p:nvSpPr>
        <p:spPr>
          <a:xfrm>
            <a:off x="5120640" y="2834640"/>
            <a:ext cx="2103120" cy="13716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4A9577-8B6D-2E67-A34C-3AF391C7CF01}"/>
              </a:ext>
            </a:extLst>
          </p:cNvPr>
          <p:cNvSpPr/>
          <p:nvPr/>
        </p:nvSpPr>
        <p:spPr>
          <a:xfrm>
            <a:off x="5120640" y="2834640"/>
            <a:ext cx="2103120" cy="73152"/>
          </a:xfrm>
          <a:prstGeom prst="rect">
            <a:avLst/>
          </a:prstGeom>
          <a:solidFill>
            <a:srgbClr val="1B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6CDA7C-A316-81AB-EE03-CBF892631449}"/>
              </a:ext>
            </a:extLst>
          </p:cNvPr>
          <p:cNvSpPr txBox="1"/>
          <p:nvPr/>
        </p:nvSpPr>
        <p:spPr>
          <a:xfrm>
            <a:off x="5120640" y="306324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B7A4B"/>
                </a:solidFill>
                <a:latin typeface="Calibri"/>
              </a:rPr>
              <a:t>PostgreSQL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81CDAF-86D1-E7D4-57F1-61AC8A9F1988}"/>
              </a:ext>
            </a:extLst>
          </p:cNvPr>
          <p:cNvSpPr txBox="1"/>
          <p:nvPr/>
        </p:nvSpPr>
        <p:spPr>
          <a:xfrm>
            <a:off x="5212080" y="356616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B6A64"/>
                </a:solidFill>
                <a:latin typeface="Calibri"/>
              </a:rPr>
              <a:t>Хранение в базе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8AEBBE-27FD-129F-A2C7-DFB32EA6B77C}"/>
              </a:ext>
            </a:extLst>
          </p:cNvPr>
          <p:cNvSpPr/>
          <p:nvPr/>
        </p:nvSpPr>
        <p:spPr>
          <a:xfrm>
            <a:off x="7360920" y="2834640"/>
            <a:ext cx="2103120" cy="13716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456C673-6ECF-072E-41D6-F15197664B84}"/>
              </a:ext>
            </a:extLst>
          </p:cNvPr>
          <p:cNvSpPr/>
          <p:nvPr/>
        </p:nvSpPr>
        <p:spPr>
          <a:xfrm>
            <a:off x="7360920" y="2834640"/>
            <a:ext cx="2103120" cy="73152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ABC65A-607D-0836-F3EC-311E18225E32}"/>
              </a:ext>
            </a:extLst>
          </p:cNvPr>
          <p:cNvSpPr txBox="1"/>
          <p:nvPr/>
        </p:nvSpPr>
        <p:spPr>
          <a:xfrm>
            <a:off x="7360920" y="306324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534AB7"/>
                </a:solidFill>
                <a:latin typeface="Calibri"/>
              </a:rPr>
              <a:t>Power BI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5EE163-F4CA-E216-1DDC-4326BE394CF4}"/>
              </a:ext>
            </a:extLst>
          </p:cNvPr>
          <p:cNvSpPr txBox="1"/>
          <p:nvPr/>
        </p:nvSpPr>
        <p:spPr>
          <a:xfrm>
            <a:off x="7452360" y="356616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B6A64"/>
                </a:solidFill>
                <a:latin typeface="Calibri"/>
              </a:rPr>
              <a:t>Дашборды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DAB92D0-065C-BEB4-DFA6-EF7E4C143EFB}"/>
              </a:ext>
            </a:extLst>
          </p:cNvPr>
          <p:cNvSpPr/>
          <p:nvPr/>
        </p:nvSpPr>
        <p:spPr>
          <a:xfrm>
            <a:off x="9601200" y="2834640"/>
            <a:ext cx="2103120" cy="13716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5E5F9AE-F4BE-D374-BEAB-1A15FCF0B585}"/>
              </a:ext>
            </a:extLst>
          </p:cNvPr>
          <p:cNvSpPr/>
          <p:nvPr/>
        </p:nvSpPr>
        <p:spPr>
          <a:xfrm>
            <a:off x="9601200" y="2834640"/>
            <a:ext cx="2103120" cy="73152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1B8E1FD-3806-8712-35D2-FE54427AB36F}"/>
              </a:ext>
            </a:extLst>
          </p:cNvPr>
          <p:cNvSpPr txBox="1"/>
          <p:nvPr/>
        </p:nvSpPr>
        <p:spPr>
          <a:xfrm>
            <a:off x="9601200" y="306324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85A30"/>
                </a:solidFill>
                <a:latin typeface="Calibri"/>
              </a:rPr>
              <a:t>Python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CAC993-A2D5-56A0-352D-12537EFACA6E}"/>
              </a:ext>
            </a:extLst>
          </p:cNvPr>
          <p:cNvSpPr txBox="1"/>
          <p:nvPr/>
        </p:nvSpPr>
        <p:spPr>
          <a:xfrm>
            <a:off x="9692640" y="356616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B6A64"/>
                </a:solidFill>
                <a:latin typeface="Calibri"/>
              </a:rPr>
              <a:t>Уникальная аналитика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A2A5C2A-1FCC-00DA-E96C-A606E7BCCB87}"/>
              </a:ext>
            </a:extLst>
          </p:cNvPr>
          <p:cNvSpPr/>
          <p:nvPr/>
        </p:nvSpPr>
        <p:spPr>
          <a:xfrm>
            <a:off x="640080" y="4754880"/>
            <a:ext cx="10972800" cy="11887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143B9B-7B98-D0BE-2F6A-C46F0871D516}"/>
              </a:ext>
            </a:extLst>
          </p:cNvPr>
          <p:cNvSpPr txBox="1"/>
          <p:nvPr/>
        </p:nvSpPr>
        <p:spPr>
          <a:xfrm>
            <a:off x="640080" y="493776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0C447C"/>
                </a:solidFill>
                <a:latin typeface="Calibri"/>
              </a:rPr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BD039A-BE23-91DB-C2AE-3040E663449A}"/>
              </a:ext>
            </a:extLst>
          </p:cNvPr>
          <p:cNvSpPr txBox="1"/>
          <p:nvPr/>
        </p:nvSpPr>
        <p:spPr>
          <a:xfrm>
            <a:off x="640080" y="553212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6B6A64"/>
                </a:solidFill>
                <a:latin typeface="Calibri"/>
              </a:rPr>
              <a:t>таблиц в БД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A2A8A32-848B-0640-3FEE-7B175E209531}"/>
              </a:ext>
            </a:extLst>
          </p:cNvPr>
          <p:cNvSpPr txBox="1"/>
          <p:nvPr/>
        </p:nvSpPr>
        <p:spPr>
          <a:xfrm>
            <a:off x="2834640" y="493776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0C447C"/>
                </a:solidFill>
                <a:latin typeface="Calibri"/>
              </a:rPr>
              <a:t>314K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F8DB6C-CDF6-0934-4BC2-B5CB732D7A39}"/>
              </a:ext>
            </a:extLst>
          </p:cNvPr>
          <p:cNvSpPr txBox="1"/>
          <p:nvPr/>
        </p:nvSpPr>
        <p:spPr>
          <a:xfrm>
            <a:off x="2834640" y="553212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6B6A64"/>
                </a:solidFill>
                <a:latin typeface="Calibri"/>
              </a:rPr>
              <a:t>строк данных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DE55B80-45A4-5C08-9CCC-0C1F1A3EC1EE}"/>
              </a:ext>
            </a:extLst>
          </p:cNvPr>
          <p:cNvSpPr txBox="1"/>
          <p:nvPr/>
        </p:nvSpPr>
        <p:spPr>
          <a:xfrm>
            <a:off x="5029200" y="493776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0C447C"/>
                </a:solidFill>
                <a:latin typeface="Calibri"/>
              </a:rPr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398F945-DC56-8B12-A974-A65C495151C5}"/>
              </a:ext>
            </a:extLst>
          </p:cNvPr>
          <p:cNvSpPr txBox="1"/>
          <p:nvPr/>
        </p:nvSpPr>
        <p:spPr>
          <a:xfrm>
            <a:off x="5029200" y="553212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6B6A64"/>
                </a:solidFill>
                <a:latin typeface="Calibri"/>
              </a:rPr>
              <a:t>дашборда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5B2DA31-A660-ED29-C8DB-B0A1CE5ABB35}"/>
              </a:ext>
            </a:extLst>
          </p:cNvPr>
          <p:cNvSpPr txBox="1"/>
          <p:nvPr/>
        </p:nvSpPr>
        <p:spPr>
          <a:xfrm>
            <a:off x="7223760" y="493776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0C447C"/>
                </a:solidFill>
                <a:latin typeface="Calibri"/>
              </a:rPr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62A8DDF-113D-A381-0A5B-4DB10BC6E08F}"/>
              </a:ext>
            </a:extLst>
          </p:cNvPr>
          <p:cNvSpPr txBox="1"/>
          <p:nvPr/>
        </p:nvSpPr>
        <p:spPr>
          <a:xfrm>
            <a:off x="7223760" y="553212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6B6A64"/>
                </a:solidFill>
                <a:latin typeface="Calibri"/>
              </a:rPr>
              <a:t>Python-графиков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640C7F0-1A7D-F5BA-25E8-4385D34E3741}"/>
              </a:ext>
            </a:extLst>
          </p:cNvPr>
          <p:cNvSpPr txBox="1"/>
          <p:nvPr/>
        </p:nvSpPr>
        <p:spPr>
          <a:xfrm>
            <a:off x="9418320" y="493776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0C447C"/>
                </a:solidFill>
                <a:latin typeface="Calibri"/>
              </a:rPr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98BC9B-2A01-2B20-6774-FB920CC1FA33}"/>
              </a:ext>
            </a:extLst>
          </p:cNvPr>
          <p:cNvSpPr txBox="1"/>
          <p:nvPr/>
        </p:nvSpPr>
        <p:spPr>
          <a:xfrm>
            <a:off x="9418320" y="553212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6B6A64"/>
                </a:solidFill>
                <a:latin typeface="Calibri"/>
              </a:rPr>
              <a:t>завода</a:t>
            </a:r>
          </a:p>
        </p:txBody>
      </p:sp>
    </p:spTree>
    <p:extLst>
      <p:ext uri="{BB962C8B-B14F-4D97-AF65-F5344CB8AC3E}">
        <p14:creationId xmlns:p14="http://schemas.microsoft.com/office/powerpoint/2010/main" val="234506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4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B423A5A0-B934-8143-96BB-2B137B52A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64" y="285136"/>
            <a:ext cx="11754225" cy="64401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4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FE0F0"/>
                </a:solidFill>
                <a:latin typeface="Calibri"/>
              </a:rPr>
              <a:t>ДАШБОРД 1 • ПРОИЗВОДСТВО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Выпуск ковров — обзор октября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15544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•  Выпуск за октябрь: 1,57 млн м²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24688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•  ANTP 772 тыс. · XIVA 794 тыс. — заводы сопоставимы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33832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•  Пики выпуска 1 и 24 октября, спад 23-го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42976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•  Доли заводов почти равны: 49% / 51%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907F1CA-00AE-1DF2-4502-5A5795CF9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" y="1344168"/>
            <a:ext cx="7891599" cy="42259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4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FE0F0"/>
                </a:solidFill>
                <a:latin typeface="Calibri"/>
              </a:rPr>
              <a:t>ДАШБОРД 1 • ПРОИЗВОДСТВО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Детализация: станки, коллекции, бердо</a:t>
            </a:r>
          </a:p>
        </p:txBody>
      </p:sp>
      <p:pic>
        <p:nvPicPr>
          <p:cNvPr id="6" name="Picture 5" descr="p0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87217"/>
            <a:ext cx="7680960" cy="45979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66760" y="15544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•  Топ станков по выпуску (завод + станок)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24688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•  Топ коллекций через справочник konstanta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33832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•  Бердо 32 и 40 дают ~93% выпуска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42976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•  Таблица проводок с фильтрами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FE0F0"/>
                </a:solidFill>
                <a:latin typeface="Calibri"/>
              </a:rPr>
              <a:t>PYTHON-АНАЛИТИКА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Тепловая карта простоев станков</a:t>
            </a:r>
          </a:p>
        </p:txBody>
      </p:sp>
      <p:pic>
        <p:nvPicPr>
          <p:cNvPr id="6" name="Picture 5" descr="p0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0592"/>
            <a:ext cx="7680960" cy="47712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66760" y="15544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•  Сетка станок × день за октябрь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24688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•  Алгоритм ищет серии простоя ≥5 дней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33832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•  Красным — аномальные остановки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42976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•  Выявлен станок с внеплановым простоем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52120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•  matplotlib + pandas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FE0F0"/>
                </a:solidFill>
                <a:latin typeface="Calibri"/>
              </a:rPr>
              <a:t>PYTHON-АНАЛИТИКА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Структура выпуска (солнечная диаграмма)</a:t>
            </a:r>
          </a:p>
        </p:txBody>
      </p:sp>
      <p:pic>
        <p:nvPicPr>
          <p:cNvPr id="6" name="Picture 5" descr="p0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98271"/>
            <a:ext cx="7680960" cy="47758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66760" y="15544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•  Три разреза сразу: завод → бердо → коллекция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24688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•  Центр — заводы (49% / 51%)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33832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•  У XIVA 83% выпуска на бердо 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42976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•  Виден основной производственный поток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52120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•  plotly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FE0F0"/>
                </a:solidFill>
                <a:latin typeface="Calibri"/>
              </a:rPr>
              <a:t>ДАШБОРД 2 • РАСХОД ДЖУТА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Расход сырья по заводам и типам нити</a:t>
            </a:r>
          </a:p>
        </p:txBody>
      </p:sp>
      <p:pic>
        <p:nvPicPr>
          <p:cNvPr id="6" name="Picture 5" descr="p0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8826"/>
            <a:ext cx="7680960" cy="48347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66760" y="15544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•  Расход джутовой нити за 3 года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24688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•  ANTP — основной потребитель (12 146 т)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33832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•  С запуском XIVA нагрузка перераспределилась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42976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•  Основные типы — J10 и J16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87290-56BA-E52E-ED05-342AC6E1B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902E8B7-DD8C-00BA-3507-F4C27C609626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4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33271F6-84FE-B2FD-7770-E07AB3AEE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916" y="1396180"/>
            <a:ext cx="6594167" cy="49456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8D45D9-7433-B0FF-4804-1AD91D68297A}"/>
              </a:ext>
            </a:extLst>
          </p:cNvPr>
          <p:cNvSpPr txBox="1"/>
          <p:nvPr/>
        </p:nvSpPr>
        <p:spPr>
          <a:xfrm>
            <a:off x="1066799" y="191729"/>
            <a:ext cx="5029201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ru-RU" sz="3200" b="1" dirty="0">
                <a:solidFill>
                  <a:srgbClr val="0C447C"/>
                </a:solidFill>
                <a:latin typeface="Calibri"/>
              </a:rPr>
              <a:t>Обзор структуры ковра:</a:t>
            </a:r>
            <a:endParaRPr sz="3200" b="1" dirty="0">
              <a:solidFill>
                <a:srgbClr val="0C447C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66197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FE0F0"/>
                </a:solidFill>
                <a:latin typeface="Calibri"/>
              </a:rPr>
              <a:t>ДАШБОРД 3 • ПИКСЕЛИ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Загрузка станков и рост мощностей XIVA</a:t>
            </a:r>
          </a:p>
        </p:txBody>
      </p:sp>
      <p:pic>
        <p:nvPicPr>
          <p:cNvPr id="6" name="Picture 5" descr="p072.png"/>
          <p:cNvPicPr>
            <a:picLocks noChangeAspect="1"/>
          </p:cNvPicPr>
          <p:nvPr/>
        </p:nvPicPr>
        <p:blipFill>
          <a:blip r:embed="rId2"/>
          <a:srcRect r="33884"/>
          <a:stretch>
            <a:fillRect/>
          </a:stretch>
        </p:blipFill>
        <p:spPr>
          <a:xfrm>
            <a:off x="998373" y="1344168"/>
            <a:ext cx="6976252" cy="44530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66760" y="15544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•  Загрузка станков за 21 месяц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24688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•  XIVA: рост с 15 до 19 станков в 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33832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•  Станки T20–T23 в простое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42976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•  Сравнение годовых итогов заводов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FE0F0"/>
                </a:solidFill>
                <a:latin typeface="Calibri"/>
              </a:rPr>
              <a:t>ДАШБОРД 4 • ПРОДАЖИ И ОСТАТКИ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Продажи — обзор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15544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•  Выручка $34,5 млн, продано 2,69 млн м²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24688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•  Структура: продажа / реализация / возврат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33832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•  Предновогодний пик выручки в декабре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42976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•  Топ магазинов по продажам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F112D00-AD15-F81B-A2D1-CAF5582BE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282" y="1463040"/>
            <a:ext cx="7320502" cy="398403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FE0F0"/>
                </a:solidFill>
                <a:latin typeface="Calibri"/>
              </a:rPr>
              <a:t>ДАШБОРД 4 • ПРОДАЖИ И ОСТАТКИ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Остатки на складах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15544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•  Остаток 1,15 млн м², себестоимость $15 млн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24688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•  69 тыс. складских позиций, 17 магазинов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33832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•  Структура остатков по бердо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42976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•  Топ магазинов и коллекций на складе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F6F7556-105F-61AC-DF76-BEEFF60FE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9511"/>
            <a:ext cx="7445903" cy="39283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FE0F0"/>
                </a:solidFill>
                <a:latin typeface="Calibri"/>
              </a:rPr>
              <a:t>PYTHON-АНАЛИТИКА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ABC-анализ коллекций (диаграмма Парето)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15544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•  Из 113 коллекций 18 дают 80% продаж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24688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•  Класс A — ключевой ассортимент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33832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•  Остальные 95 — «длинный хвост»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42976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•  Вывод: фокус на 18 коллекциях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52120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•  matplotlib, накопленный %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F5EE871-9D74-D461-D648-FEFB297AB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23405"/>
            <a:ext cx="7659352" cy="42458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5891489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FE0F0"/>
                </a:solidFill>
                <a:latin typeface="Calibri"/>
              </a:rPr>
              <a:t>PYTHON-АНАЛИТИКА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554736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Оборачиваемость: запас в месяцах</a:t>
            </a:r>
          </a:p>
        </p:txBody>
      </p:sp>
      <p:pic>
        <p:nvPicPr>
          <p:cNvPr id="6" name="Picture 5" descr="p079.png"/>
          <p:cNvPicPr>
            <a:picLocks noChangeAspect="1"/>
          </p:cNvPicPr>
          <p:nvPr/>
        </p:nvPicPr>
        <p:blipFill>
          <a:blip r:embed="rId2"/>
          <a:srcRect l="7617" r="13402" b="9512"/>
          <a:stretch>
            <a:fillRect/>
          </a:stretch>
        </p:blipFill>
        <p:spPr>
          <a:xfrm>
            <a:off x="1042219" y="1655092"/>
            <a:ext cx="6790348" cy="45195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66760" y="15544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•  На сколько хватит остатка при продажах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24688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•  Урганч, Нукус — быстрый оборот (1–2 мес)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33832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•  Ярмарка, Кушбеги, Маркет — затоварены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42976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•  Расчёт совпал с отчётом предприятия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4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C447C"/>
                </a:solidFill>
                <a:latin typeface="Calibri"/>
              </a:rPr>
              <a:t>Ключевые выводы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91440" cy="822960"/>
          </a:xfrm>
          <a:prstGeom prst="rect">
            <a:avLst/>
          </a:prstGeom>
          <a:solidFill>
            <a:srgbClr val="0C4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21945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C447C"/>
                </a:solidFill>
                <a:latin typeface="Calibri"/>
              </a:rPr>
              <a:t>Производство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463040"/>
            <a:ext cx="8412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A1A1A"/>
                </a:solidFill>
                <a:latin typeface="Calibri"/>
              </a:rPr>
              <a:t>Бердо 32 и 40 дают 93% выпуска. Выявлен станок с внеплановым простоем более 5 дней.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423160"/>
            <a:ext cx="91440" cy="82296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21945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D85A30"/>
                </a:solidFill>
                <a:latin typeface="Calibri"/>
              </a:rPr>
              <a:t>Сырьё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423160"/>
            <a:ext cx="8412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A1A1A"/>
                </a:solidFill>
                <a:latin typeface="Calibri"/>
              </a:rPr>
              <a:t>С запуском XIVA расход джута перераспределился между двумя заводами.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83280"/>
            <a:ext cx="91440" cy="822960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383280"/>
            <a:ext cx="21945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534AB7"/>
                </a:solidFill>
                <a:latin typeface="Calibri"/>
              </a:rPr>
              <a:t>Загрузка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383280"/>
            <a:ext cx="8412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A1A1A"/>
                </a:solidFill>
                <a:latin typeface="Calibri"/>
              </a:rPr>
              <a:t>XIVA нарастил парк с 15 до 19 станков; часть станков в простое.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343400"/>
            <a:ext cx="91440" cy="822960"/>
          </a:xfrm>
          <a:prstGeom prst="rect">
            <a:avLst/>
          </a:prstGeom>
          <a:solidFill>
            <a:srgbClr val="1B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343400"/>
            <a:ext cx="21945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7A4B"/>
                </a:solidFill>
                <a:latin typeface="Calibri"/>
              </a:rPr>
              <a:t>Продажи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343400"/>
            <a:ext cx="8412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A1A1A"/>
                </a:solidFill>
                <a:latin typeface="Calibri"/>
              </a:rPr>
              <a:t>18 коллекций из 113 формируют 80% продаж. Пик выручки — декабрь.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303520"/>
            <a:ext cx="91440" cy="822960"/>
          </a:xfrm>
          <a:prstGeom prst="rect">
            <a:avLst/>
          </a:prstGeom>
          <a:solidFill>
            <a:srgbClr val="1B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303520"/>
            <a:ext cx="21945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7A4B"/>
                </a:solidFill>
                <a:latin typeface="Calibri"/>
              </a:rPr>
              <a:t>Склады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303520"/>
            <a:ext cx="8412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A1A1A"/>
                </a:solidFill>
                <a:latin typeface="Calibri"/>
              </a:rPr>
              <a:t>Магазины Ярмарка, Кушбеги, Маркет плейс затоварены (запас на годы).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4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916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Использованные технологии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2377440"/>
            <a:ext cx="1920240" cy="6400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2377440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364992" y="2377440"/>
            <a:ext cx="1920240" cy="6400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364992" y="2377440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pandas</a:t>
            </a:r>
          </a:p>
        </p:txBody>
      </p:sp>
      <p:sp>
        <p:nvSpPr>
          <p:cNvPr id="8" name="Rectangle 7"/>
          <p:cNvSpPr/>
          <p:nvPr/>
        </p:nvSpPr>
        <p:spPr>
          <a:xfrm>
            <a:off x="5541264" y="2377440"/>
            <a:ext cx="1920240" cy="6400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41264" y="2377440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matplotlib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17536" y="2377440"/>
            <a:ext cx="1920240" cy="6400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17536" y="2377440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plotly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93808" y="2377440"/>
            <a:ext cx="1920240" cy="6400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93808" y="2377440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SQLAlchemy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8720" y="3291840"/>
            <a:ext cx="1920240" cy="6400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3291840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64992" y="3291840"/>
            <a:ext cx="1920240" cy="6400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64992" y="3291840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pgAdmin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41264" y="3291840"/>
            <a:ext cx="1920240" cy="6400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41264" y="3291840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Power BI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17536" y="3291840"/>
            <a:ext cx="1920240" cy="6400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17536" y="3291840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DAX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93808" y="3291840"/>
            <a:ext cx="1920240" cy="6400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93808" y="3291840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429768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B9CFE6"/>
                </a:solidFill>
                <a:latin typeface="Calibri"/>
              </a:rPr>
              <a:t>Полный цикл работы с данными — от очистки до визуализации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0" y="5212080"/>
            <a:ext cx="2286000" cy="4572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0" y="548640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Спасибо за внимание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626</Words>
  <Application>Microsoft Office PowerPoint</Application>
  <PresentationFormat>Широкоэкранный</PresentationFormat>
  <Paragraphs>118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Komil Erkinov</cp:lastModifiedBy>
  <cp:revision>5</cp:revision>
  <dcterms:created xsi:type="dcterms:W3CDTF">2013-01-27T09:14:16Z</dcterms:created>
  <dcterms:modified xsi:type="dcterms:W3CDTF">2026-09-17T11:03:22Z</dcterms:modified>
  <cp:category/>
</cp:coreProperties>
</file>